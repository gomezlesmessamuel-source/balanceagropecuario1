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2">
  <p:sldMasterIdLst>
    <p:sldMasterId id="2147483648" r:id="rId1"/>
    <p:sldMasterId id="2147483662" r:id="rId2"/>
    <p:sldMasterId id="2147483678" r:id="rId3"/>
  </p:sldMasterIdLst>
  <p:notesMasterIdLst>
    <p:notesMasterId r:id="rId30"/>
  </p:notesMasterIdLst>
  <p:sldIdLst>
    <p:sldId id="256" r:id="rId4"/>
    <p:sldId id="257" r:id="rId5"/>
    <p:sldId id="282" r:id="rId6"/>
    <p:sldId id="258" r:id="rId7"/>
    <p:sldId id="259" r:id="rId8"/>
    <p:sldId id="283" r:id="rId9"/>
    <p:sldId id="273" r:id="rId10"/>
    <p:sldId id="260" r:id="rId11"/>
    <p:sldId id="261" r:id="rId12"/>
    <p:sldId id="262" r:id="rId13"/>
    <p:sldId id="284" r:id="rId14"/>
    <p:sldId id="279" r:id="rId15"/>
    <p:sldId id="263" r:id="rId16"/>
    <p:sldId id="266" r:id="rId17"/>
    <p:sldId id="267" r:id="rId18"/>
    <p:sldId id="286" r:id="rId19"/>
    <p:sldId id="287" r:id="rId20"/>
    <p:sldId id="280" r:id="rId21"/>
    <p:sldId id="268" r:id="rId22"/>
    <p:sldId id="269" r:id="rId23"/>
    <p:sldId id="285" r:id="rId24"/>
    <p:sldId id="281" r:id="rId25"/>
    <p:sldId id="274" r:id="rId26"/>
    <p:sldId id="275" r:id="rId27"/>
    <p:sldId id="270" r:id="rId28"/>
    <p:sldId id="271" r:id="rId29"/>
  </p:sldIdLst>
  <p:sldSz cx="12192000" cy="6858000"/>
  <p:notesSz cx="6858000" cy="9144000"/>
  <p:embeddedFontLst>
    <p:embeddedFont>
      <p:font typeface="Work Sans" panose="020B0604020202020204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Work Sans Light" panose="020B0604020202020204" charset="0"/>
      <p:regular r:id="rId39"/>
      <p:bold r:id="rId40"/>
      <p:italic r:id="rId41"/>
      <p:boldItalic r:id="rId42"/>
    </p:embeddedFont>
    <p:embeddedFont>
      <p:font typeface="Work Sans Medium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itj5lBrd+9A1R6wDgptj5EuRWr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9.fntdata"/><Relationship Id="rId21" Type="http://schemas.openxmlformats.org/officeDocument/2006/relationships/slide" Target="slides/slide18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6.fntdata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7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52158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975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1028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B1A08104-7F07-F0B0-D678-244350BC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>
            <a:extLst>
              <a:ext uri="{FF2B5EF4-FFF2-40B4-BE49-F238E27FC236}">
                <a16:creationId xmlns:a16="http://schemas.microsoft.com/office/drawing/2014/main" id="{959A125A-2421-7E9C-ABC3-3F61C832E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:notes">
            <a:extLst>
              <a:ext uri="{FF2B5EF4-FFF2-40B4-BE49-F238E27FC236}">
                <a16:creationId xmlns:a16="http://schemas.microsoft.com/office/drawing/2014/main" id="{96F3F647-97A8-8495-CA85-EAA56FF84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2:notes">
            <a:extLst>
              <a:ext uri="{FF2B5EF4-FFF2-40B4-BE49-F238E27FC236}">
                <a16:creationId xmlns:a16="http://schemas.microsoft.com/office/drawing/2014/main" id="{6837C0BC-A389-26CE-3C77-2F86DADBE5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4822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1921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4666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46FB1ACE-5244-8146-88ED-91149998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1:notes">
            <a:extLst>
              <a:ext uri="{FF2B5EF4-FFF2-40B4-BE49-F238E27FC236}">
                <a16:creationId xmlns:a16="http://schemas.microsoft.com/office/drawing/2014/main" id="{9081287D-7D6F-8894-1B89-2C150869E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1:notes">
            <a:extLst>
              <a:ext uri="{FF2B5EF4-FFF2-40B4-BE49-F238E27FC236}">
                <a16:creationId xmlns:a16="http://schemas.microsoft.com/office/drawing/2014/main" id="{9118E76D-0977-6ACB-AAE6-684976C04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3866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4004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395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9552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8421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9994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A7D99E28-D2E2-6A33-17C9-0EFD3AED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0:notes">
            <a:extLst>
              <a:ext uri="{FF2B5EF4-FFF2-40B4-BE49-F238E27FC236}">
                <a16:creationId xmlns:a16="http://schemas.microsoft.com/office/drawing/2014/main" id="{871CC1FB-C51C-CD1D-1F2E-880FE3FA7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00:notes">
            <a:extLst>
              <a:ext uri="{FF2B5EF4-FFF2-40B4-BE49-F238E27FC236}">
                <a16:creationId xmlns:a16="http://schemas.microsoft.com/office/drawing/2014/main" id="{3F15100C-C0F7-112A-33A2-76989EC82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0272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6079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560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1761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7051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15391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C0CB96B6-77CC-9DC1-8A26-86FA925F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6:notes">
            <a:extLst>
              <a:ext uri="{FF2B5EF4-FFF2-40B4-BE49-F238E27FC236}">
                <a16:creationId xmlns:a16="http://schemas.microsoft.com/office/drawing/2014/main" id="{87ED7A08-BE2F-6B93-0FDF-D86605CF3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06:notes">
            <a:extLst>
              <a:ext uri="{FF2B5EF4-FFF2-40B4-BE49-F238E27FC236}">
                <a16:creationId xmlns:a16="http://schemas.microsoft.com/office/drawing/2014/main" id="{530161ED-6612-6284-EB87-A934EA6B5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36342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82278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8142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6968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737B8EBA-4BF5-6180-90DC-13264CFE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8:notes">
            <a:extLst>
              <a:ext uri="{FF2B5EF4-FFF2-40B4-BE49-F238E27FC236}">
                <a16:creationId xmlns:a16="http://schemas.microsoft.com/office/drawing/2014/main" id="{54189710-AFC5-D789-9179-E192D1F53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08:notes">
            <a:extLst>
              <a:ext uri="{FF2B5EF4-FFF2-40B4-BE49-F238E27FC236}">
                <a16:creationId xmlns:a16="http://schemas.microsoft.com/office/drawing/2014/main" id="{5252404B-1EF5-232C-5487-885D852578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108:notes">
            <a:extLst>
              <a:ext uri="{FF2B5EF4-FFF2-40B4-BE49-F238E27FC236}">
                <a16:creationId xmlns:a16="http://schemas.microsoft.com/office/drawing/2014/main" id="{A3AF4B5F-E3F7-B8CA-46DA-2820251885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27091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06821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83363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155d56c852_0_4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g2155d56c852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61993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868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7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8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2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4" name="Google Shape;104;p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1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1" name="Google Shape;131;p1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1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7" name="Google Shape;147;p1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8" name="Google Shape;148;p1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1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5" name="Google Shape;155;p1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1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27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28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1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1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1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1" name="Google Shape;211;p1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1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3" name="Google Shape;213;p1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1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25" name="Google Shape;225;p1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6" name="Google Shape;226;p1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1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3" name="Google Shape;233;p1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1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1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" name="Google Shape;92;p1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0" name="Google Shape;180;p1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1" name="Google Shape;181;p1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2" name="Google Shape;182;p1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951460" y="2560630"/>
            <a:ext cx="9722402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3600" b="1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Nombre del </a:t>
            </a:r>
            <a:r>
              <a:rPr lang="es-CO" sz="3600" b="1" i="0" u="none" strike="noStrike" cap="none" dirty="0" smtClean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Grupo: Balance Agropecuario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 dirty="0" smtClean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Autores: Samuel Gómez </a:t>
            </a:r>
            <a:r>
              <a:rPr lang="es-ES" sz="2000" b="0" i="0" u="none" strike="noStrike" cap="none" dirty="0" err="1" smtClean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Lesmes</a:t>
            </a:r>
            <a:r>
              <a:rPr lang="es-ES" sz="2000" b="0" i="0" u="none" strike="noStrike" cap="none" dirty="0" smtClean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,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 dirty="0" smtClean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Luis Alejandro Galvis </a:t>
            </a:r>
            <a:r>
              <a:rPr lang="es-ES" sz="2000" b="0" i="0" u="none" strike="noStrike" cap="none" dirty="0" err="1" smtClean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Gutierrez</a:t>
            </a:r>
            <a:r>
              <a:rPr lang="es-ES" sz="2000" b="0" i="0" u="none" strike="noStrike" cap="none" dirty="0" smtClean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 dirty="0" smtClean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Michael </a:t>
            </a:r>
            <a:r>
              <a:rPr lang="es-ES" sz="2000" b="0" i="0" u="none" strike="noStrike" cap="none" dirty="0" err="1" smtClean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Stidh</a:t>
            </a:r>
            <a:r>
              <a:rPr lang="es-ES" sz="2000" b="0" i="0" u="none" strike="noStrike" cap="none" dirty="0" smtClean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Lozano </a:t>
            </a:r>
            <a:r>
              <a:rPr lang="es-ES" sz="2000" b="0" i="0" u="none" strike="noStrike" cap="none" dirty="0" err="1" smtClean="0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perez</a:t>
            </a:r>
            <a:endParaRPr lang="es-ES" sz="2000" b="0" i="0" u="none" strike="noStrike" cap="none" dirty="0" smtClean="0">
              <a:solidFill>
                <a:srgbClr val="3F3F3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s-ES" sz="2000" dirty="0">
              <a:solidFill>
                <a:srgbClr val="3F3F3F"/>
              </a:solidFill>
              <a:latin typeface="Work Sans Medium"/>
              <a:sym typeface="Work Sa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"/>
          <p:cNvSpPr txBox="1"/>
          <p:nvPr/>
        </p:nvSpPr>
        <p:spPr>
          <a:xfrm>
            <a:off x="3502135" y="1314271"/>
            <a:ext cx="462017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ES" sz="72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Contenido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"/>
          <p:cNvCxnSpPr/>
          <p:nvPr/>
        </p:nvCxnSpPr>
        <p:spPr>
          <a:xfrm>
            <a:off x="4754934" y="2515265"/>
            <a:ext cx="1736203" cy="0"/>
          </a:xfrm>
          <a:prstGeom prst="straightConnector1">
            <a:avLst/>
          </a:prstGeom>
          <a:noFill/>
          <a:ln w="9525" cap="flat" cmpd="sng">
            <a:solidFill>
              <a:srgbClr val="38AA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6" name="Google Shape;266;p2"/>
          <p:cNvSpPr txBox="1"/>
          <p:nvPr/>
        </p:nvSpPr>
        <p:spPr>
          <a:xfrm>
            <a:off x="4011161" y="2738510"/>
            <a:ext cx="3854368" cy="2646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del proyecto.</a:t>
            </a: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sym typeface="Work Sans Light"/>
              </a:rPr>
              <a:t>Objetivos específicos.</a:t>
            </a: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sym typeface="Work Sans Light"/>
              </a:rPr>
              <a:t>Pregunta Problema</a:t>
            </a:r>
          </a:p>
          <a:p>
            <a:pPr marL="285750" lvl="1" indent="-285750"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sym typeface="Work Sans Light"/>
              </a:rPr>
              <a:t>Modelo Canvas</a:t>
            </a:r>
            <a:endParaRPr sz="1600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Diseño de la base de datos.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sym typeface="Work Sans Light"/>
              </a:rPr>
              <a:t>Requerimientos Funcionales.</a:t>
            </a:r>
            <a:endParaRPr sz="1600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Software utilizado.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Funcionalidades.</a:t>
            </a:r>
            <a:endParaRPr sz="1600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Reglas del negocio.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Inicio Demo.</a:t>
            </a:r>
            <a:endParaRPr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53521D4B-FD70-272F-D284-92F6F920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">
            <a:extLst>
              <a:ext uri="{FF2B5EF4-FFF2-40B4-BE49-F238E27FC236}">
                <a16:creationId xmlns:a16="http://schemas.microsoft.com/office/drawing/2014/main" id="{10E8E4FF-9BD8-5380-3093-766D46A85DFB}"/>
              </a:ext>
            </a:extLst>
          </p:cNvPr>
          <p:cNvSpPr txBox="1"/>
          <p:nvPr/>
        </p:nvSpPr>
        <p:spPr>
          <a:xfrm>
            <a:off x="2551002" y="296176"/>
            <a:ext cx="7441409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ES" sz="72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TIEMPOS SUGERIDOS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">
            <a:extLst>
              <a:ext uri="{FF2B5EF4-FFF2-40B4-BE49-F238E27FC236}">
                <a16:creationId xmlns:a16="http://schemas.microsoft.com/office/drawing/2014/main" id="{19E19F10-49AF-5522-4875-02D70AF976A7}"/>
              </a:ext>
            </a:extLst>
          </p:cNvPr>
          <p:cNvCxnSpPr/>
          <p:nvPr/>
        </p:nvCxnSpPr>
        <p:spPr>
          <a:xfrm>
            <a:off x="5227899" y="2649273"/>
            <a:ext cx="1736203" cy="0"/>
          </a:xfrm>
          <a:prstGeom prst="straightConnector1">
            <a:avLst/>
          </a:prstGeom>
          <a:noFill/>
          <a:ln w="9525" cap="flat" cmpd="sng">
            <a:solidFill>
              <a:srgbClr val="38AA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6" name="Google Shape;266;p2">
            <a:extLst>
              <a:ext uri="{FF2B5EF4-FFF2-40B4-BE49-F238E27FC236}">
                <a16:creationId xmlns:a16="http://schemas.microsoft.com/office/drawing/2014/main" id="{75EB1972-D5E1-C117-EAA5-38F0160060D4}"/>
              </a:ext>
            </a:extLst>
          </p:cNvPr>
          <p:cNvSpPr txBox="1"/>
          <p:nvPr/>
        </p:nvSpPr>
        <p:spPr>
          <a:xfrm>
            <a:off x="4168816" y="2906677"/>
            <a:ext cx="3854368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CO" sz="1600" dirty="0">
                <a:latin typeface="Work Sans" pitchFamily="2" charset="0"/>
              </a:rPr>
              <a:t>Objetivo del proyecto: 1 minuto.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>
                <a:latin typeface="Work Sans" pitchFamily="2" charset="0"/>
              </a:rPr>
              <a:t>Objetivos específicos: 1 minuto.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>
                <a:latin typeface="Work Sans" pitchFamily="2" charset="0"/>
              </a:rPr>
              <a:t>Software utilizado: 1 minuto.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>
                <a:latin typeface="Work Sans" pitchFamily="2" charset="0"/>
              </a:rPr>
              <a:t>Modelo Canvas: 2 minutos.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>
                <a:latin typeface="Work Sans" pitchFamily="2" charset="0"/>
              </a:rPr>
              <a:t>Requerimientos Funcionales: 2 minutos.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>
                <a:latin typeface="Work Sans" pitchFamily="2" charset="0"/>
              </a:rPr>
              <a:t>Reglas del negocio: 2 minutos.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>
                <a:latin typeface="Work Sans" pitchFamily="2" charset="0"/>
              </a:rPr>
              <a:t>Diseño de la base de datos: 2 minutos.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>
                <a:latin typeface="Work Sans" pitchFamily="2" charset="0"/>
              </a:rPr>
              <a:t>Funcionalidades: 3 minutos.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>
                <a:latin typeface="Work Sans" pitchFamily="2" charset="0"/>
              </a:rPr>
              <a:t>Inicio Demo: 6 minutos.</a:t>
            </a:r>
          </a:p>
          <a:p>
            <a:endParaRPr lang="es-CO" sz="1600" dirty="0">
              <a:latin typeface="Work Sans" pitchFamily="2" charset="0"/>
            </a:endParaRPr>
          </a:p>
          <a:p>
            <a:r>
              <a:rPr lang="es-CO" sz="1600" dirty="0">
                <a:latin typeface="Work Sans" pitchFamily="2" charset="0"/>
              </a:rPr>
              <a:t>Total: 20 minutos.</a:t>
            </a:r>
          </a:p>
        </p:txBody>
      </p:sp>
    </p:spTree>
    <p:extLst>
      <p:ext uri="{BB962C8B-B14F-4D97-AF65-F5344CB8AC3E}">
        <p14:creationId xmlns:p14="http://schemas.microsoft.com/office/powerpoint/2010/main" val="1022043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7"/>
          <p:cNvSpPr txBox="1"/>
          <p:nvPr/>
        </p:nvSpPr>
        <p:spPr>
          <a:xfrm>
            <a:off x="377105" y="340477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 del Proyecto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 dirty="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100991" y="1766036"/>
            <a:ext cx="88255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Desarrollar una solución tecnológica web y móvil que permita mejorar la gestión de la producción agropecuaria en fincas de pequeños y medianos productores, facilitando el registro, control y organización de la información relacionada con los animales, su peso, alimentación, medicamentos e historial productivo, con el propósito de optimizar los procesos, reducir errores, apoyar la toma de decisiones y contribuir al bienestar animal y al crecimiento sostenible del sector agropecuario.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8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 general</a:t>
            </a: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1658815" y="1575918"/>
            <a:ext cx="80200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dirty="0"/>
              <a:t>Desarrollar un sistema de información web y móvil para la gestión de la producción agropecuaria, que permita el registro del peso de los animales, el control de la alimentación y la automatización de la dosificación de medicamentos, con el propósito de mejorar la precisión de la información y fortalecer la toma de decisiones durante el año </a:t>
            </a:r>
            <a:r>
              <a:rPr lang="es-ES" sz="2800" dirty="0" smtClean="0"/>
              <a:t>2026</a:t>
            </a:r>
            <a:endParaRPr lang="es-ES" sz="2800" dirty="0"/>
          </a:p>
          <a:p>
            <a:pPr algn="ctr"/>
            <a:r>
              <a:rPr lang="es-ES" sz="2800" dirty="0"/>
              <a:t>dentro del entorno escolar.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638B0C95-AC63-A5AE-B820-3902A48D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1">
            <a:extLst>
              <a:ext uri="{FF2B5EF4-FFF2-40B4-BE49-F238E27FC236}">
                <a16:creationId xmlns:a16="http://schemas.microsoft.com/office/drawing/2014/main" id="{1CEDAEAE-9ADB-674E-BB62-F21C85CE196E}"/>
              </a:ext>
            </a:extLst>
          </p:cNvPr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FFFFFF"/>
              </a:buClr>
              <a:buSzPts val="4400"/>
            </a:pPr>
            <a:r>
              <a:rPr lang="es-ES" sz="44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Objetivos específicos</a:t>
            </a:r>
            <a:endParaRPr lang="es-ES" sz="4400" dirty="0"/>
          </a:p>
        </p:txBody>
      </p:sp>
      <p:sp>
        <p:nvSpPr>
          <p:cNvPr id="2" name="Rectángulo 1"/>
          <p:cNvSpPr/>
          <p:nvPr/>
        </p:nvSpPr>
        <p:spPr>
          <a:xfrm>
            <a:off x="1210406" y="1353704"/>
            <a:ext cx="813581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" sz="1800" dirty="0"/>
              <a:t>-Analizar los requerimientos del sistema mediante la identificación de las necesidades de los productores agropecuarios en relación con el control de peso, alimentación y dosificación de medicamentos.</a:t>
            </a:r>
          </a:p>
          <a:p>
            <a:pPr lvl="0" algn="ctr"/>
            <a:endParaRPr lang="es-ES" sz="1800" dirty="0"/>
          </a:p>
          <a:p>
            <a:pPr lvl="0" algn="ctr"/>
            <a:r>
              <a:rPr lang="es-ES" sz="1800" dirty="0"/>
              <a:t>-Diseñar la arquitectura del sistema, incluyendo la base de datos y las interfaces de usuario, garantizando funcionalidad, eficiencia y facilidad de uso.</a:t>
            </a:r>
          </a:p>
          <a:p>
            <a:pPr lvl="0" algn="ctr"/>
            <a:endParaRPr lang="es-ES" sz="1800" dirty="0"/>
          </a:p>
          <a:p>
            <a:pPr lvl="0" algn="ctr"/>
            <a:r>
              <a:rPr lang="es-ES" sz="1800" dirty="0"/>
              <a:t>-Desarrollar la aplicación implementando las funcionalidades necesarias para el registro de datos, control de alimentación y cálculo automatizado de dosificación de medicamentos.</a:t>
            </a:r>
          </a:p>
          <a:p>
            <a:pPr lvl="0" algn="ctr"/>
            <a:endParaRPr lang="es-ES" sz="1800" dirty="0"/>
          </a:p>
          <a:p>
            <a:pPr lvl="0" algn="ctr"/>
            <a:r>
              <a:rPr lang="es-ES" sz="1800" dirty="0"/>
              <a:t>-Realizar pruebas funcionales y de usabilidad con el fin de identificar y corregir posibles errores, asegurando la calidad del sistema.</a:t>
            </a:r>
          </a:p>
          <a:p>
            <a:pPr lvl="0" algn="ctr"/>
            <a:endParaRPr lang="es-ES" sz="1800" dirty="0"/>
          </a:p>
          <a:p>
            <a:pPr lvl="0" algn="ctr"/>
            <a:r>
              <a:rPr lang="es-ES" sz="1800" dirty="0"/>
              <a:t>-Implementar la aplicación en un entorno real, evaluando su desempeño y nivel de aceptación por parte de los usuarios.</a:t>
            </a:r>
          </a:p>
          <a:p>
            <a:pPr lvl="0" algn="ctr"/>
            <a:endParaRPr lang="es-ES" sz="1800" dirty="0"/>
          </a:p>
          <a:p>
            <a:pPr lvl="0" algn="ctr"/>
            <a:r>
              <a:rPr lang="es-ES" sz="1800" dirty="0"/>
              <a:t>-Realizar el despliegue de la aplicación web y app.</a:t>
            </a:r>
          </a:p>
        </p:txBody>
      </p:sp>
    </p:spTree>
    <p:extLst>
      <p:ext uri="{BB962C8B-B14F-4D97-AF65-F5344CB8AC3E}">
        <p14:creationId xmlns:p14="http://schemas.microsoft.com/office/powerpoint/2010/main" val="2082182251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8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CO" sz="4400" b="0" i="0" u="none" strike="noStrike" cap="none" dirty="0">
                <a:solidFill>
                  <a:schemeClr val="tx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Modelo Canvas</a:t>
            </a:r>
            <a:endParaRPr lang="es-CO" sz="4400" dirty="0">
              <a:solidFill>
                <a:schemeClr val="tx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94" y="1209514"/>
            <a:ext cx="10301601" cy="547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6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9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Diseño de la base de datos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6" y="1402066"/>
            <a:ext cx="9518073" cy="52518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0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0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Base de datos – Modelo Entidad Relación</a:t>
            </a:r>
            <a:endParaRPr sz="4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94" y="1201271"/>
            <a:ext cx="9493624" cy="53583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1"/>
          <p:cNvSpPr txBox="1"/>
          <p:nvPr/>
        </p:nvSpPr>
        <p:spPr>
          <a:xfrm>
            <a:off x="0" y="0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CO" sz="4400" dirty="0" smtClean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</a:t>
            </a:r>
            <a:r>
              <a:rPr lang="es-ES" sz="4400" dirty="0" err="1" smtClean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equerimientos</a:t>
            </a:r>
            <a:r>
              <a:rPr lang="es-ES" sz="4400" dirty="0" smtClean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</a:t>
            </a:r>
            <a:r>
              <a:rPr lang="es-ES" sz="4400" dirty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Funcionales</a:t>
            </a:r>
            <a:endParaRPr sz="4400" b="0" i="0" u="none" strike="noStrike" cap="none" dirty="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905134"/>
              </p:ext>
            </p:extLst>
          </p:nvPr>
        </p:nvGraphicFramePr>
        <p:xfrm>
          <a:off x="145641" y="825610"/>
          <a:ext cx="4806605" cy="19104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6347">
                  <a:extLst>
                    <a:ext uri="{9D8B030D-6E8A-4147-A177-3AD203B41FA5}">
                      <a16:colId xmlns:a16="http://schemas.microsoft.com/office/drawing/2014/main" val="4274664635"/>
                    </a:ext>
                  </a:extLst>
                </a:gridCol>
                <a:gridCol w="2430258">
                  <a:extLst>
                    <a:ext uri="{9D8B030D-6E8A-4147-A177-3AD203B41FA5}">
                      <a16:colId xmlns:a16="http://schemas.microsoft.com/office/drawing/2014/main" val="1476930895"/>
                    </a:ext>
                  </a:extLst>
                </a:gridCol>
              </a:tblGrid>
              <a:tr h="312182">
                <a:tc>
                  <a:txBody>
                    <a:bodyPr/>
                    <a:lstStyle/>
                    <a:p>
                      <a:pPr marL="85725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Código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607151"/>
                  </a:ext>
                </a:extLst>
              </a:tr>
              <a:tr h="163733">
                <a:tc rowSpan="4">
                  <a:txBody>
                    <a:bodyPr/>
                    <a:lstStyle/>
                    <a:p>
                      <a:pPr>
                        <a:spcBef>
                          <a:spcPts val="760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marL="47625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RQF001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Nombre: Registro del usuario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028022"/>
                  </a:ext>
                </a:extLst>
              </a:tr>
              <a:tr h="298932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Descripciones sistema deberá registrar los datos personales del usuario 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10280"/>
                  </a:ext>
                </a:extLst>
              </a:tr>
              <a:tr h="59786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(nombre, correo y contraseña), así validando que el correo no se duplique y que los campos obligatorios sean efectivamente diligenciados.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03591"/>
                  </a:ext>
                </a:extLst>
              </a:tr>
              <a:tr h="339809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Productores y Administradores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700883"/>
                  </a:ext>
                </a:extLst>
              </a:tr>
            </a:tbl>
          </a:graphicData>
        </a:graphic>
      </p:graphicFrame>
      <p:graphicFrame>
        <p:nvGraphicFramePr>
          <p:cNvPr id="10" name="Tab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495572"/>
              </p:ext>
            </p:extLst>
          </p:nvPr>
        </p:nvGraphicFramePr>
        <p:xfrm>
          <a:off x="145641" y="2792448"/>
          <a:ext cx="4806606" cy="19744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3303">
                  <a:extLst>
                    <a:ext uri="{9D8B030D-6E8A-4147-A177-3AD203B41FA5}">
                      <a16:colId xmlns:a16="http://schemas.microsoft.com/office/drawing/2014/main" val="2351195015"/>
                    </a:ext>
                  </a:extLst>
                </a:gridCol>
                <a:gridCol w="2403303">
                  <a:extLst>
                    <a:ext uri="{9D8B030D-6E8A-4147-A177-3AD203B41FA5}">
                      <a16:colId xmlns:a16="http://schemas.microsoft.com/office/drawing/2014/main" val="14315135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47625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Código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391299"/>
                  </a:ext>
                </a:extLst>
              </a:tr>
              <a:tr h="184150">
                <a:tc rowSpan="4">
                  <a:txBody>
                    <a:bodyPr/>
                    <a:lstStyle/>
                    <a:p>
                      <a:pPr>
                        <a:spcBef>
                          <a:spcPts val="765"/>
                        </a:spcBef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ES" sz="1100" dirty="0">
                        <a:effectLst/>
                      </a:endParaRPr>
                    </a:p>
                    <a:p>
                      <a:pPr marL="47625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RQF002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Nombre: Inicio de sesión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145597"/>
                  </a:ext>
                </a:extLst>
              </a:tr>
              <a:tr h="17208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 Descripciones sistema deberá autenticar al usuario mediante credenciales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33209"/>
                  </a:ext>
                </a:extLst>
              </a:tr>
              <a:tr h="18923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cifradas, implementando el manejo de sesiones seguras a través de controles de intentos fallidos de acceso.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6499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Productores y Administradores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490857"/>
                  </a:ext>
                </a:extLst>
              </a:tr>
            </a:tbl>
          </a:graphicData>
        </a:graphic>
      </p:graphicFrame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3671888" y="31813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900" b="0" i="1" u="none" strike="noStrike" cap="none" normalizeH="0" baseline="0" smtClean="0">
                <a:ln>
                  <a:noFill/>
                </a:ln>
                <a:solidFill>
                  <a:srgbClr val="1F477B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s-ES" altLang="es-E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365976"/>
              </p:ext>
            </p:extLst>
          </p:nvPr>
        </p:nvGraphicFramePr>
        <p:xfrm>
          <a:off x="145641" y="4996815"/>
          <a:ext cx="4806606" cy="1771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3303">
                  <a:extLst>
                    <a:ext uri="{9D8B030D-6E8A-4147-A177-3AD203B41FA5}">
                      <a16:colId xmlns:a16="http://schemas.microsoft.com/office/drawing/2014/main" val="2277159253"/>
                    </a:ext>
                  </a:extLst>
                </a:gridCol>
                <a:gridCol w="2403303">
                  <a:extLst>
                    <a:ext uri="{9D8B030D-6E8A-4147-A177-3AD203B41FA5}">
                      <a16:colId xmlns:a16="http://schemas.microsoft.com/office/drawing/2014/main" val="3477172926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47625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Código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653399"/>
                  </a:ext>
                </a:extLst>
              </a:tr>
              <a:tr h="184150">
                <a:tc rowSpan="4">
                  <a:txBody>
                    <a:bodyPr/>
                    <a:lstStyle/>
                    <a:p>
                      <a:pPr>
                        <a:spcBef>
                          <a:spcPts val="1435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marL="47625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RQF003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Nombre: Registro de los animales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504698"/>
                  </a:ext>
                </a:extLst>
              </a:tr>
              <a:tr h="34036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Descripción: El sistema deberá almacenar la información del animal (nombre, especie, edad y raza), así asegurándose de la integridad de los datos y su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42002"/>
                  </a:ext>
                </a:extLst>
              </a:tr>
              <a:tr h="18923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correcta relación dentro de la base de datos. 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514936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Productores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445621"/>
                  </a:ext>
                </a:extLst>
              </a:tr>
            </a:tbl>
          </a:graphicData>
        </a:graphic>
      </p:graphicFrame>
      <p:graphicFrame>
        <p:nvGraphicFramePr>
          <p:cNvPr id="16" name="Tab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491473"/>
              </p:ext>
            </p:extLst>
          </p:nvPr>
        </p:nvGraphicFramePr>
        <p:xfrm>
          <a:off x="5057239" y="825611"/>
          <a:ext cx="5136962" cy="18827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8481">
                  <a:extLst>
                    <a:ext uri="{9D8B030D-6E8A-4147-A177-3AD203B41FA5}">
                      <a16:colId xmlns:a16="http://schemas.microsoft.com/office/drawing/2014/main" val="1824509242"/>
                    </a:ext>
                  </a:extLst>
                </a:gridCol>
                <a:gridCol w="2568481">
                  <a:extLst>
                    <a:ext uri="{9D8B030D-6E8A-4147-A177-3AD203B41FA5}">
                      <a16:colId xmlns:a16="http://schemas.microsoft.com/office/drawing/2014/main" val="3529094740"/>
                    </a:ext>
                  </a:extLst>
                </a:gridCol>
              </a:tblGrid>
              <a:tr h="252995">
                <a:tc>
                  <a:txBody>
                    <a:bodyPr/>
                    <a:lstStyle/>
                    <a:p>
                      <a:pPr marL="47625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Código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991600"/>
                  </a:ext>
                </a:extLst>
              </a:tr>
              <a:tr h="247434">
                <a:tc rowSpan="4">
                  <a:txBody>
                    <a:bodyPr/>
                    <a:lstStyle/>
                    <a:p>
                      <a:pPr>
                        <a:spcBef>
                          <a:spcPts val="765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marL="47625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RQF004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Nombre: Registro de peso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415510"/>
                  </a:ext>
                </a:extLst>
              </a:tr>
              <a:tr h="677619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Descripción: El sistema registrar y actualizar el peso de los animales, permitiendo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502376"/>
                  </a:ext>
                </a:extLst>
              </a:tr>
              <a:tr h="451746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llevar su historial por fechas para el seguimiento del crecimiento.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85387"/>
                  </a:ext>
                </a:extLst>
              </a:tr>
              <a:tr h="2529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Productores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54477"/>
                  </a:ext>
                </a:extLst>
              </a:tr>
            </a:tbl>
          </a:graphicData>
        </a:graphic>
      </p:graphicFrame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5247365" y="106798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9" name="Tab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15304"/>
              </p:ext>
            </p:extLst>
          </p:nvPr>
        </p:nvGraphicFramePr>
        <p:xfrm>
          <a:off x="5057239" y="2792447"/>
          <a:ext cx="5136962" cy="19744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8481">
                  <a:extLst>
                    <a:ext uri="{9D8B030D-6E8A-4147-A177-3AD203B41FA5}">
                      <a16:colId xmlns:a16="http://schemas.microsoft.com/office/drawing/2014/main" val="3448227998"/>
                    </a:ext>
                  </a:extLst>
                </a:gridCol>
                <a:gridCol w="2568481">
                  <a:extLst>
                    <a:ext uri="{9D8B030D-6E8A-4147-A177-3AD203B41FA5}">
                      <a16:colId xmlns:a16="http://schemas.microsoft.com/office/drawing/2014/main" val="1743214289"/>
                    </a:ext>
                  </a:extLst>
                </a:gridCol>
              </a:tblGrid>
              <a:tr h="210708">
                <a:tc>
                  <a:txBody>
                    <a:bodyPr/>
                    <a:lstStyle/>
                    <a:p>
                      <a:pPr marL="47625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Código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79584"/>
                  </a:ext>
                </a:extLst>
              </a:tr>
              <a:tr h="206076">
                <a:tc rowSpan="4">
                  <a:txBody>
                    <a:bodyPr/>
                    <a:lstStyle/>
                    <a:p>
                      <a:pPr>
                        <a:spcBef>
                          <a:spcPts val="1410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marL="47625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RQF005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Nombre: Control de alimentación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99279"/>
                  </a:ext>
                </a:extLst>
              </a:tr>
              <a:tr h="56435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Descripción: El sistema deberá registrar el suministro de alimento indicando el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5472"/>
                  </a:ext>
                </a:extLst>
              </a:tr>
              <a:tr h="786681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tipo de insumo y la cantidad en kilogramos (kg), garantizando la validación de las </a:t>
                      </a:r>
                      <a:r>
                        <a:rPr lang="es-ES" sz="1200">
                          <a:effectLst/>
                        </a:rPr>
                        <a:t>unidades de medida.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97037"/>
                  </a:ext>
                </a:extLst>
              </a:tr>
              <a:tr h="206646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Productores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849607"/>
                  </a:ext>
                </a:extLst>
              </a:tr>
            </a:tbl>
          </a:graphicData>
        </a:graphic>
      </p:graphicFrame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815072"/>
              </p:ext>
            </p:extLst>
          </p:nvPr>
        </p:nvGraphicFramePr>
        <p:xfrm>
          <a:off x="5057239" y="4996815"/>
          <a:ext cx="5136962" cy="18002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8481">
                  <a:extLst>
                    <a:ext uri="{9D8B030D-6E8A-4147-A177-3AD203B41FA5}">
                      <a16:colId xmlns:a16="http://schemas.microsoft.com/office/drawing/2014/main" val="1898751792"/>
                    </a:ext>
                  </a:extLst>
                </a:gridCol>
                <a:gridCol w="2568481">
                  <a:extLst>
                    <a:ext uri="{9D8B030D-6E8A-4147-A177-3AD203B41FA5}">
                      <a16:colId xmlns:a16="http://schemas.microsoft.com/office/drawing/2014/main" val="455507649"/>
                    </a:ext>
                  </a:extLst>
                </a:gridCol>
              </a:tblGrid>
              <a:tr h="192376">
                <a:tc>
                  <a:txBody>
                    <a:bodyPr/>
                    <a:lstStyle/>
                    <a:p>
                      <a:pPr marL="47625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Código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040314"/>
                  </a:ext>
                </a:extLst>
              </a:tr>
              <a:tr h="188147">
                <a:tc rowSpan="4">
                  <a:txBody>
                    <a:bodyPr/>
                    <a:lstStyle/>
                    <a:p>
                      <a:pPr>
                        <a:spcBef>
                          <a:spcPts val="1410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marL="47625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RQF006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Nombre: Cálculo de dosificación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895777"/>
                  </a:ext>
                </a:extLst>
              </a:tr>
              <a:tr h="51525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Descripción: El sistema deberá calcular la dosis de medicamento mediante una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50957"/>
                  </a:ext>
                </a:extLst>
              </a:tr>
              <a:tr h="687011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regla de negocio definida, multiplicando el peso del animal por un factor de dosificación previamente establecido.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246563"/>
                  </a:ext>
                </a:extLst>
              </a:tr>
              <a:tr h="18866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Productores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1752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1"/>
          <p:cNvSpPr txBox="1"/>
          <p:nvPr/>
        </p:nvSpPr>
        <p:spPr>
          <a:xfrm>
            <a:off x="0" y="0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CO" sz="4400" dirty="0" smtClean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</a:t>
            </a:r>
            <a:r>
              <a:rPr lang="es-ES" sz="4400" dirty="0" err="1" smtClean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equerimientos</a:t>
            </a:r>
            <a:r>
              <a:rPr lang="es-ES" sz="4400" dirty="0" smtClean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</a:t>
            </a:r>
            <a:r>
              <a:rPr lang="es-ES" sz="4400" dirty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Funcionales</a:t>
            </a:r>
            <a:endParaRPr sz="4400" b="0" i="0" u="none" strike="noStrike" cap="none" dirty="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3671888" y="31813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900" b="0" i="1" u="none" strike="noStrike" cap="none" normalizeH="0" baseline="0" smtClean="0">
                <a:ln>
                  <a:noFill/>
                </a:ln>
                <a:solidFill>
                  <a:srgbClr val="1F477B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s-ES" altLang="es-E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5247365" y="106798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281860"/>
              </p:ext>
            </p:extLst>
          </p:nvPr>
        </p:nvGraphicFramePr>
        <p:xfrm>
          <a:off x="113874" y="725684"/>
          <a:ext cx="4848226" cy="1598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4113">
                  <a:extLst>
                    <a:ext uri="{9D8B030D-6E8A-4147-A177-3AD203B41FA5}">
                      <a16:colId xmlns:a16="http://schemas.microsoft.com/office/drawing/2014/main" val="3297715409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355274581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47625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Código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62838"/>
                  </a:ext>
                </a:extLst>
              </a:tr>
              <a:tr h="184150">
                <a:tc rowSpan="4">
                  <a:txBody>
                    <a:bodyPr/>
                    <a:lstStyle/>
                    <a:p>
                      <a:pPr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marL="47625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RQF007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Nombre: Registro de medicamentos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347331"/>
                  </a:ext>
                </a:extLst>
              </a:tr>
              <a:tr h="34353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Descripción: El sistema deberá registrar la información del medicamento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922046"/>
                  </a:ext>
                </a:extLst>
              </a:tr>
              <a:tr h="18923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aplicado, incluyendo nombre, dosis administrada y fecha de aplicación.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682813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Productores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490081"/>
                  </a:ext>
                </a:extLst>
              </a:tr>
            </a:tbl>
          </a:graphicData>
        </a:graphic>
      </p:graphicFrame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409034"/>
              </p:ext>
            </p:extLst>
          </p:nvPr>
        </p:nvGraphicFramePr>
        <p:xfrm>
          <a:off x="113874" y="2529395"/>
          <a:ext cx="4848226" cy="1761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4113">
                  <a:extLst>
                    <a:ext uri="{9D8B030D-6E8A-4147-A177-3AD203B41FA5}">
                      <a16:colId xmlns:a16="http://schemas.microsoft.com/office/drawing/2014/main" val="4060119821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273686732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47625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Código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662808"/>
                  </a:ext>
                </a:extLst>
              </a:tr>
              <a:tr h="184150">
                <a:tc rowSpan="4">
                  <a:txBody>
                    <a:bodyPr/>
                    <a:lstStyle/>
                    <a:p>
                      <a:pPr>
                        <a:spcBef>
                          <a:spcPts val="765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marL="47625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RQF008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Nombre: Consulta del historial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06023"/>
                  </a:ext>
                </a:extLst>
              </a:tr>
              <a:tr h="17526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Descripción: El sistema deberá permitir la visualización del historial clínico y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95452"/>
                  </a:ext>
                </a:extLst>
              </a:tr>
              <a:tr h="18923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nutricional de cada animal mediante filtros por identificación y rangos de las fechas.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208913"/>
                  </a:ext>
                </a:extLst>
              </a:tr>
              <a:tr h="18034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Productores, administradores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666265"/>
                  </a:ext>
                </a:extLst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671888" y="3267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468881"/>
              </p:ext>
            </p:extLst>
          </p:nvPr>
        </p:nvGraphicFramePr>
        <p:xfrm>
          <a:off x="113874" y="4590024"/>
          <a:ext cx="4848228" cy="20963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4114">
                  <a:extLst>
                    <a:ext uri="{9D8B030D-6E8A-4147-A177-3AD203B41FA5}">
                      <a16:colId xmlns:a16="http://schemas.microsoft.com/office/drawing/2014/main" val="1295298901"/>
                    </a:ext>
                  </a:extLst>
                </a:gridCol>
                <a:gridCol w="2424114">
                  <a:extLst>
                    <a:ext uri="{9D8B030D-6E8A-4147-A177-3AD203B41FA5}">
                      <a16:colId xmlns:a16="http://schemas.microsoft.com/office/drawing/2014/main" val="2142055689"/>
                    </a:ext>
                  </a:extLst>
                </a:gridCol>
              </a:tblGrid>
              <a:tr h="157481">
                <a:tc>
                  <a:txBody>
                    <a:bodyPr/>
                    <a:lstStyle/>
                    <a:p>
                      <a:pPr marL="47625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Código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197713"/>
                  </a:ext>
                </a:extLst>
              </a:tr>
              <a:tr h="158662">
                <a:tc rowSpan="4">
                  <a:txBody>
                    <a:bodyPr/>
                    <a:lstStyle/>
                    <a:p>
                      <a:pPr>
                        <a:spcBef>
                          <a:spcPts val="765"/>
                        </a:spcBef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ES" sz="1100" dirty="0">
                        <a:effectLst/>
                      </a:endParaRPr>
                    </a:p>
                    <a:p>
                      <a:pPr marL="47625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RQF009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Nombre: Generación de reportes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500036"/>
                  </a:ext>
                </a:extLst>
              </a:tr>
              <a:tr h="424957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Descripción: El sistema deberá generar reportes de crecimiento y control en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569663"/>
                  </a:ext>
                </a:extLst>
              </a:tr>
              <a:tr h="708262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formato PDF, basado en un periodo determinado (por ejemplo ya sea sobre su primer semestre o ultimo trimestre sus datos si hay cambios o no).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245995"/>
                  </a:ext>
                </a:extLst>
              </a:tr>
              <a:tr h="32204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Productores, Administradores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45290"/>
                  </a:ext>
                </a:extLst>
              </a:tr>
            </a:tbl>
          </a:graphicData>
        </a:graphic>
      </p:graphicFrame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614556"/>
              </p:ext>
            </p:extLst>
          </p:nvPr>
        </p:nvGraphicFramePr>
        <p:xfrm>
          <a:off x="5926199" y="1743646"/>
          <a:ext cx="4848226" cy="18442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4113">
                  <a:extLst>
                    <a:ext uri="{9D8B030D-6E8A-4147-A177-3AD203B41FA5}">
                      <a16:colId xmlns:a16="http://schemas.microsoft.com/office/drawing/2014/main" val="2005914285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751216383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47625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Código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735608"/>
                  </a:ext>
                </a:extLst>
              </a:tr>
              <a:tr h="184150">
                <a:tc rowSpan="4">
                  <a:txBody>
                    <a:bodyPr/>
                    <a:lstStyle/>
                    <a:p>
                      <a:pPr>
                        <a:spcBef>
                          <a:spcPts val="765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marL="47625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RQF010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Nombre: Notificaciones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572392"/>
                  </a:ext>
                </a:extLst>
              </a:tr>
              <a:tr h="17526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Descripción: El sistema deberá enviar alertas de medicación a través del correo electrónico del usuario, con una anticipación de 15 minutos respecto a la hora programada.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539397"/>
                  </a:ext>
                </a:extLst>
              </a:tr>
              <a:tr h="18923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635991"/>
                  </a:ext>
                </a:extLst>
              </a:tr>
              <a:tr h="18034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Productores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853422"/>
                  </a:ext>
                </a:extLst>
              </a:tr>
            </a:tbl>
          </a:graphicData>
        </a:graphic>
      </p:graphicFrame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432224"/>
              </p:ext>
            </p:extLst>
          </p:nvPr>
        </p:nvGraphicFramePr>
        <p:xfrm>
          <a:off x="5926199" y="4062666"/>
          <a:ext cx="4848226" cy="2027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4113">
                  <a:extLst>
                    <a:ext uri="{9D8B030D-6E8A-4147-A177-3AD203B41FA5}">
                      <a16:colId xmlns:a16="http://schemas.microsoft.com/office/drawing/2014/main" val="84418788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2612445033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47625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Código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Requisitos Funcionales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282821"/>
                  </a:ext>
                </a:extLst>
              </a:tr>
              <a:tr h="184150">
                <a:tc rowSpan="4">
                  <a:txBody>
                    <a:bodyPr/>
                    <a:lstStyle/>
                    <a:p>
                      <a:pPr>
                        <a:spcBef>
                          <a:spcPts val="765"/>
                        </a:spcBef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ES" sz="1100">
                        <a:effectLst/>
                      </a:endParaRPr>
                    </a:p>
                    <a:p>
                      <a:pPr marL="47625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RQF011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11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Nombre: gestión de datos 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678154"/>
                  </a:ext>
                </a:extLst>
              </a:tr>
              <a:tr h="17526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Descripción: El sistema permitirá la edición de los registros únicamente a los usuarios con rol de administrador, manteniendo un registro o log de cambios para garantizar toda la trazabilidad de la información.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549378"/>
                  </a:ext>
                </a:extLst>
              </a:tr>
              <a:tr h="18923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31952"/>
                  </a:ext>
                </a:extLst>
              </a:tr>
              <a:tr h="18034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Usuarios: Administradores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11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67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>
          <a:extLst>
            <a:ext uri="{FF2B5EF4-FFF2-40B4-BE49-F238E27FC236}">
              <a16:creationId xmlns:a16="http://schemas.microsoft.com/office/drawing/2014/main" id="{74AB46B8-7653-2E6F-EA82-602093F4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0">
            <a:extLst>
              <a:ext uri="{FF2B5EF4-FFF2-40B4-BE49-F238E27FC236}">
                <a16:creationId xmlns:a16="http://schemas.microsoft.com/office/drawing/2014/main" id="{048A240C-C26C-E4DD-F458-9A1DC19B33AC}"/>
              </a:ext>
            </a:extLst>
          </p:cNvPr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000" b="0" i="0" u="none" strike="noStrike" cap="none" dirty="0">
                <a:solidFill>
                  <a:schemeClr val="tx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Herramientas y/o software utilizado</a:t>
            </a:r>
            <a:endParaRPr lang="es-ES" sz="40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TML5 - Wikipedia, la enciclopedia lib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9529"/>
            <a:ext cx="2094807" cy="205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File:CSS3 logo and wordmark.svg - Wikimedia Comm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030" name="Picture 6" descr="Archivo:CSS3 logo and wordmark.svg - Wikipedia, la enciclopedia lib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46" y="1514015"/>
            <a:ext cx="1442640" cy="203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ogo de JavaScript: la historia y el significado del logotipo, la marca y  el símbolo. | png, vect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062" y="1775337"/>
            <a:ext cx="2833701" cy="177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hp Logo 512x584 PNG picture 512x584 #60255 | PNGim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439" y="2078109"/>
            <a:ext cx="1397439" cy="1593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DO letter logo design on white background. PDO creative circle letter logo  concept. PDO letter design. 19842137 Vector Art at Vecteezy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3952310"/>
            <a:ext cx="2089208" cy="158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ySQL Logo PNG Vector (EPS) Free Downloa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76" y="3672063"/>
            <a:ext cx="1939870" cy="193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Iconos, Logos, Símbolos de Microsoft sql server - Descarga Gratuita PNG, SV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826" y="3952310"/>
            <a:ext cx="1713786" cy="1713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1D6F422-86AF-4810-B3E1-E07244EFD6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5023" y="1563687"/>
            <a:ext cx="1286054" cy="102884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146659D-3D65-4535-80A5-F0426A46B5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0371" y="5012456"/>
            <a:ext cx="2397730" cy="128605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0D3D9B4-E173-43B7-A2A1-E80D2D3115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5359" y="3050331"/>
            <a:ext cx="2638793" cy="54300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9D0590F-243A-454C-83BD-388513039A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3833" y="4369429"/>
            <a:ext cx="1343212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5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2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Herramientas y/o software utilizado</a:t>
            </a:r>
            <a:endParaRPr dirty="0"/>
          </a:p>
        </p:txBody>
      </p:sp>
      <p:sp>
        <p:nvSpPr>
          <p:cNvPr id="299" name="Google Shape;299;p102"/>
          <p:cNvSpPr/>
          <p:nvPr/>
        </p:nvSpPr>
        <p:spPr>
          <a:xfrm>
            <a:off x="744675" y="1536174"/>
            <a:ext cx="9762299" cy="363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" b="1" dirty="0"/>
              <a:t>Sistema Operativo</a:t>
            </a:r>
            <a:r>
              <a:rPr lang="es-ES" b="1" dirty="0" smtClean="0"/>
              <a:t>: </a:t>
            </a:r>
            <a:r>
              <a:rPr lang="es-ES" dirty="0"/>
              <a:t>Windows 10/11</a:t>
            </a:r>
            <a:endParaRPr lang="es-ES" dirty="0"/>
          </a:p>
          <a:p>
            <a:pPr lvl="1"/>
            <a:r>
              <a:rPr lang="es-ES" dirty="0"/>
              <a:t> </a:t>
            </a:r>
          </a:p>
          <a:p>
            <a:pPr lvl="1"/>
            <a:endParaRPr lang="es-ES" dirty="0"/>
          </a:p>
          <a:p>
            <a:r>
              <a:rPr lang="es-ES" b="1" dirty="0"/>
              <a:t>Servidor </a:t>
            </a:r>
            <a:r>
              <a:rPr lang="es-ES" b="1" dirty="0" smtClean="0"/>
              <a:t>Web: </a:t>
            </a:r>
            <a:r>
              <a:rPr lang="es-ES" dirty="0" smtClean="0"/>
              <a:t>Apache </a:t>
            </a:r>
            <a:r>
              <a:rPr lang="es-ES" dirty="0"/>
              <a:t>(XAMPP)</a:t>
            </a:r>
            <a:endParaRPr lang="es-ES" dirty="0"/>
          </a:p>
          <a:p>
            <a:pPr lvl="1"/>
            <a:r>
              <a:rPr lang="es-ES" dirty="0"/>
              <a:t> </a:t>
            </a:r>
          </a:p>
          <a:p>
            <a:pPr lvl="1"/>
            <a:endParaRPr lang="es-ES" dirty="0"/>
          </a:p>
          <a:p>
            <a:r>
              <a:rPr lang="es-ES" b="1" dirty="0"/>
              <a:t>Gestor de Base de Datos</a:t>
            </a:r>
            <a:r>
              <a:rPr lang="es-ES" b="1" dirty="0" smtClean="0"/>
              <a:t>: </a:t>
            </a:r>
            <a:r>
              <a:rPr lang="es-ES" dirty="0" err="1"/>
              <a:t>MySQL</a:t>
            </a:r>
            <a:endParaRPr lang="es-ES" b="1" dirty="0"/>
          </a:p>
          <a:p>
            <a:pPr lvl="1"/>
            <a:r>
              <a:rPr lang="es-ES" dirty="0"/>
              <a:t> </a:t>
            </a:r>
          </a:p>
          <a:p>
            <a:pPr lvl="1"/>
            <a:endParaRPr lang="es-ES" dirty="0"/>
          </a:p>
          <a:p>
            <a:r>
              <a:rPr lang="es-ES" b="1" dirty="0"/>
              <a:t>Entorno de Desarrollo: </a:t>
            </a:r>
            <a:r>
              <a:rPr lang="es-ES" dirty="0"/>
              <a:t>Visual Studio </a:t>
            </a:r>
            <a:r>
              <a:rPr lang="es-ES" dirty="0" err="1"/>
              <a:t>Code</a:t>
            </a:r>
            <a:r>
              <a:rPr lang="es-ES" dirty="0"/>
              <a:t> y </a:t>
            </a:r>
            <a:r>
              <a:rPr lang="es-ES" dirty="0" smtClean="0"/>
              <a:t>XAMPP</a:t>
            </a:r>
          </a:p>
          <a:p>
            <a:endParaRPr lang="es-ES" dirty="0"/>
          </a:p>
          <a:p>
            <a:r>
              <a:rPr lang="es-ES" b="1" dirty="0"/>
              <a:t>Lenguajes de Programación – </a:t>
            </a:r>
            <a:r>
              <a:rPr lang="es-ES" b="1" dirty="0"/>
              <a:t>Back </a:t>
            </a:r>
            <a:r>
              <a:rPr lang="es-ES" b="1" dirty="0" err="1"/>
              <a:t>End</a:t>
            </a:r>
            <a:r>
              <a:rPr lang="es-ES" b="1" dirty="0"/>
              <a:t> y Front </a:t>
            </a:r>
            <a:r>
              <a:rPr lang="es-ES" b="1" dirty="0" err="1"/>
              <a:t>End</a:t>
            </a:r>
            <a:r>
              <a:rPr lang="es-ES" b="1" dirty="0"/>
              <a:t>:</a:t>
            </a:r>
            <a:r>
              <a:rPr lang="es-ES" dirty="0"/>
              <a:t> PHP (Back </a:t>
            </a:r>
            <a:r>
              <a:rPr lang="es-ES" dirty="0" err="1"/>
              <a:t>End</a:t>
            </a:r>
            <a:r>
              <a:rPr lang="es-ES" dirty="0"/>
              <a:t>), HTML5, CSS3 y JavaScript (Front </a:t>
            </a:r>
            <a:r>
              <a:rPr lang="es-ES" dirty="0" err="1"/>
              <a:t>End</a:t>
            </a:r>
            <a:r>
              <a:rPr lang="es-ES" dirty="0"/>
              <a:t>), SQL (Base de datos</a:t>
            </a:r>
            <a:r>
              <a:rPr lang="es-ES" dirty="0" smtClean="0"/>
              <a:t>).</a:t>
            </a:r>
          </a:p>
          <a:p>
            <a:endParaRPr lang="es-ES" b="1" dirty="0"/>
          </a:p>
          <a:p>
            <a:r>
              <a:rPr lang="es-ES" b="1" dirty="0" smtClean="0"/>
              <a:t>Otros: </a:t>
            </a:r>
            <a:r>
              <a:rPr lang="en-US" dirty="0" smtClean="0"/>
              <a:t>PDO</a:t>
            </a:r>
            <a:r>
              <a:rPr lang="en-US" dirty="0"/>
              <a:t>, Google Forms, Microsoft Word y Microsoft Excel.</a:t>
            </a:r>
            <a:endParaRPr lang="es-E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5"/>
          <p:cNvSpPr txBox="1"/>
          <p:nvPr/>
        </p:nvSpPr>
        <p:spPr>
          <a:xfrm>
            <a:off x="564301" y="308623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161010" y="1579418"/>
            <a:ext cx="1022742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</a:rPr>
              <a:t>La plataforma Balance Agropecuario es una aplicación web diseñada para facilitar la gestión de la producción agropecuaria. Permite registrar usuarios mediante sus datos personales, iniciar y cerrar sesión, y controlar el acceso según el tipo de usuario.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</a:rPr>
              <a:t>El sistema permite registrar y gestionar animales, almacenando información como identificación, especie, raza, edad, sexo y peso. También permite modificar y eliminar registros, manteniendo actualizada la información de cada animal.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</a:rPr>
              <a:t>Otra de sus funciones principales es el control del peso, alimentación y medicamentos. La plataforma permite registrar el peso de los animales y realizar un seguimiento de su crecimiento, además de registrar el tipo y cantidad de alimento suministrado y los medicamentos o vacunas aplicados, incluyendo dosis y fechas.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</a:rPr>
              <a:t>La plataforma también cuenta con un historial médico y registros relacionados con la producción, lo que permite organizar la información de cada animal y facilitar su consulta. Estos datos se almacenan en una base de datos relacionada para mantener la información organizada y facilitar su seguimiento.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</a:rPr>
              <a:t>Finalmente, el sistema cuenta con un panel administrativo que permite consultar usuarios y animales, visualizar estadísticas, gestionar el estado de los usuarios y supervisar la información registrada. También incorpora medidas de seguridad mediante sesiones de usuario y conexiones con la base de datos utilizando PDO, contribuyendo a proteger y mantener la integridad de la información.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6"/>
          <p:cNvSpPr txBox="1"/>
          <p:nvPr/>
        </p:nvSpPr>
        <p:spPr>
          <a:xfrm>
            <a:off x="231792" y="208341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 por módulo</a:t>
            </a: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231792" y="1345121"/>
            <a:ext cx="1059872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1</a:t>
            </a:r>
            <a:r>
              <a:rPr lang="es-ES" sz="1800" dirty="0"/>
              <a:t>. Módulo de usuarios y autenticación</a:t>
            </a:r>
          </a:p>
          <a:p>
            <a:r>
              <a:rPr lang="es-ES" sz="1800" dirty="0"/>
              <a:t>Este módulo permite controlar el acceso a la plataforma. El usuario puede registrarse con sus datos personales, crear una contraseña e iniciar sesión. El sistema valida sus credenciales y, según el rol, permite acceder a las funciones correspondientes. También maneja las sesiones y protege las contraseñas.</a:t>
            </a:r>
          </a:p>
          <a:p>
            <a:r>
              <a:rPr lang="es-ES" sz="1800" dirty="0"/>
              <a:t>Flujo: Registrarse → validar datos → iniciar sesión → verificar credenciales → acceder al sistema</a:t>
            </a:r>
            <a:r>
              <a:rPr lang="es-ES" sz="1800" dirty="0" smtClean="0"/>
              <a:t>.</a:t>
            </a:r>
          </a:p>
          <a:p>
            <a:endParaRPr lang="es-ES" sz="1800" dirty="0"/>
          </a:p>
          <a:p>
            <a:r>
              <a:rPr lang="es-ES" sz="1800" dirty="0"/>
              <a:t>2. Módulo de gestión de animales</a:t>
            </a:r>
          </a:p>
          <a:p>
            <a:r>
              <a:rPr lang="es-ES" sz="1800" dirty="0"/>
              <a:t>Permite al productor registrar y administrar la información de cada animal de la finca. Se pueden guardar datos como identificación, tipo de animal, raza, sexo, edad y otros datos necesarios para su seguimiento. También permite consultar, modificar y eliminar registros.</a:t>
            </a:r>
          </a:p>
          <a:p>
            <a:r>
              <a:rPr lang="es-ES" sz="1800" dirty="0"/>
              <a:t>Flujo: Registrar animal → guardar información → consultar → modificar o eliminar</a:t>
            </a:r>
            <a:r>
              <a:rPr lang="es-ES" sz="1800" dirty="0" smtClean="0"/>
              <a:t>.</a:t>
            </a:r>
          </a:p>
          <a:p>
            <a:endParaRPr lang="es-ES" sz="1800" b="1" dirty="0"/>
          </a:p>
          <a:p>
            <a:r>
              <a:rPr lang="es-ES" sz="1800" dirty="0"/>
              <a:t>3. Módulo de control de peso</a:t>
            </a:r>
          </a:p>
          <a:p>
            <a:r>
              <a:rPr lang="es-ES" sz="1800" dirty="0"/>
              <a:t>Permite llevar un seguimiento del peso de los animales. El usuario registra el peso junto con la fecha correspondiente y posteriormente puede consultar los registros para conocer la evolución del animal.</a:t>
            </a:r>
          </a:p>
          <a:p>
            <a:r>
              <a:rPr lang="es-ES" sz="1800" dirty="0"/>
              <a:t>Flujo: Seleccionar animal → registrar peso y fecha → guardar → consultar historial.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6"/>
          <p:cNvSpPr txBox="1"/>
          <p:nvPr/>
        </p:nvSpPr>
        <p:spPr>
          <a:xfrm>
            <a:off x="231792" y="208341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 por módulo</a:t>
            </a: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231792" y="1345121"/>
            <a:ext cx="1059872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/>
              <a:t>4. Módulo de alimentación</a:t>
            </a:r>
          </a:p>
          <a:p>
            <a:r>
              <a:rPr lang="es-ES" sz="1800" dirty="0"/>
              <a:t>Permite registrar la alimentación suministrada a los animales, indicando el tipo de alimento, cantidad, unidad y fecha. Esto facilita mantener organizada la información y llevar un control de la alimentación de cada animal.</a:t>
            </a:r>
          </a:p>
          <a:p>
            <a:r>
              <a:rPr lang="es-ES" sz="1800" dirty="0"/>
              <a:t>Flujo: Seleccionar animal → registrar alimento → indicar cantidad y fecha → guardar información</a:t>
            </a:r>
            <a:r>
              <a:rPr lang="es-ES" sz="1800" dirty="0" smtClean="0"/>
              <a:t>.</a:t>
            </a:r>
          </a:p>
          <a:p>
            <a:endParaRPr lang="es-ES" sz="1800" b="1" dirty="0"/>
          </a:p>
          <a:p>
            <a:r>
              <a:rPr lang="es-ES" sz="1800" dirty="0"/>
              <a:t>5. Módulo de medicamentos y vacunación</a:t>
            </a:r>
          </a:p>
          <a:p>
            <a:r>
              <a:rPr lang="es-ES" sz="1800" dirty="0"/>
              <a:t>Permite registrar los medicamentos y vacunas aplicados a cada animal. Se pueden almacenar datos como nombre del medicamento, dosis, fecha de aplicación y próxima aplicación cuando corresponda, facilitando el seguimiento de los tratamientos.</a:t>
            </a:r>
          </a:p>
          <a:p>
            <a:r>
              <a:rPr lang="es-ES" sz="1800" dirty="0"/>
              <a:t>Flujo: Seleccionar animal → registrar medicamento o vacuna → indicar dosis y fecha → guardar → consultar</a:t>
            </a:r>
            <a:r>
              <a:rPr lang="es-ES" sz="1800" dirty="0" smtClean="0"/>
              <a:t>.</a:t>
            </a:r>
          </a:p>
          <a:p>
            <a:endParaRPr lang="es-ES" sz="1800" dirty="0"/>
          </a:p>
          <a:p>
            <a:r>
              <a:rPr lang="es-ES" sz="1800" dirty="0"/>
              <a:t>6. Módulo de historial médico y producción</a:t>
            </a:r>
          </a:p>
          <a:p>
            <a:r>
              <a:rPr lang="es-ES" sz="1800" dirty="0"/>
              <a:t>Este módulo organiza la información relacionada con la salud y producción de cada animal. Permite consultar antecedentes, tratamientos, diagnósticos, observaciones y otros registros asociados, facilitando el seguimiento de cada animal.</a:t>
            </a:r>
          </a:p>
          <a:p>
            <a:r>
              <a:rPr lang="es-ES" sz="1800" dirty="0"/>
              <a:t>Flujo: Seleccionar animal → consultar historial → revisar registros médicos y productivos.</a:t>
            </a:r>
          </a:p>
        </p:txBody>
      </p:sp>
    </p:spTree>
    <p:extLst>
      <p:ext uri="{BB962C8B-B14F-4D97-AF65-F5344CB8AC3E}">
        <p14:creationId xmlns:p14="http://schemas.microsoft.com/office/powerpoint/2010/main" val="235637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6"/>
          <p:cNvSpPr txBox="1"/>
          <p:nvPr/>
        </p:nvSpPr>
        <p:spPr>
          <a:xfrm>
            <a:off x="231792" y="208341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 por módulo</a:t>
            </a: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231792" y="946111"/>
            <a:ext cx="1144281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/>
              <a:t>7. Módulo de administración</a:t>
            </a:r>
          </a:p>
          <a:p>
            <a:r>
              <a:rPr lang="es-ES" sz="1600" dirty="0"/>
              <a:t>Está destinado a los administradores de la plataforma. Permite supervisar la información registrada, consultar usuarios y animales, gestionar usuarios y controlar diferentes datos del sistema desde un panel administrativo.</a:t>
            </a:r>
          </a:p>
          <a:p>
            <a:r>
              <a:rPr lang="es-ES" sz="1600" dirty="0"/>
              <a:t>Flujo: Administrador inicia sesión → accede al panel → consulta información → gestiona datos</a:t>
            </a:r>
            <a:r>
              <a:rPr lang="es-ES" sz="1600" dirty="0" smtClean="0"/>
              <a:t>.</a:t>
            </a:r>
          </a:p>
          <a:p>
            <a:endParaRPr lang="es-ES" sz="1600" dirty="0"/>
          </a:p>
          <a:p>
            <a:r>
              <a:rPr lang="es-ES" sz="1600" dirty="0"/>
              <a:t>8. Módulo de reportes</a:t>
            </a:r>
          </a:p>
          <a:p>
            <a:r>
              <a:rPr lang="es-ES" sz="1600" dirty="0"/>
              <a:t>Permite organizar y consultar la información registrada en el sistema para facilitar su análisis. Los reportes pueden utilizar los datos de los animales y sus diferentes registros, ayudando al productor a realizar un mejor seguimiento de la producción.</a:t>
            </a:r>
          </a:p>
          <a:p>
            <a:r>
              <a:rPr lang="es-ES" sz="1600" dirty="0"/>
              <a:t>Flujo: Seleccionar información → consultar datos → generar reporte → analizar resultados</a:t>
            </a:r>
            <a:r>
              <a:rPr lang="es-ES" sz="1600" dirty="0" smtClean="0"/>
              <a:t>.</a:t>
            </a:r>
          </a:p>
          <a:p>
            <a:endParaRPr lang="es-ES" sz="1600" dirty="0"/>
          </a:p>
          <a:p>
            <a:r>
              <a:rPr lang="es-ES" sz="1600" dirty="0"/>
              <a:t>9. Módulo de base de datos</a:t>
            </a:r>
          </a:p>
          <a:p>
            <a:r>
              <a:rPr lang="es-ES" sz="1600" dirty="0"/>
              <a:t>Es el encargado de almacenar y organizar la información de la plataforma. </a:t>
            </a:r>
            <a:r>
              <a:rPr lang="es-ES" sz="1600" dirty="0" err="1"/>
              <a:t>MySQL</a:t>
            </a:r>
            <a:r>
              <a:rPr lang="es-ES" sz="1600" dirty="0"/>
              <a:t> contiene los datos de usuarios, animales, peso, alimentación, medicamentos, vacunación, historial y producción. La conexión con el sistema se realiza mediante PHP</a:t>
            </a:r>
            <a:r>
              <a:rPr lang="es-ES" sz="1600" b="1" dirty="0"/>
              <a:t> </a:t>
            </a:r>
            <a:r>
              <a:rPr lang="es-ES" sz="1600" dirty="0"/>
              <a:t>y PDO.</a:t>
            </a:r>
          </a:p>
          <a:p>
            <a:r>
              <a:rPr lang="es-ES" sz="1600" dirty="0"/>
              <a:t>Flujo: Usuario registra información → PHP procesa los datos → PDO realiza la consulta → </a:t>
            </a:r>
            <a:r>
              <a:rPr lang="es-ES" sz="1600" dirty="0" err="1"/>
              <a:t>MySQL</a:t>
            </a:r>
            <a:r>
              <a:rPr lang="es-ES" sz="1600" dirty="0"/>
              <a:t> almacena la información</a:t>
            </a:r>
            <a:r>
              <a:rPr lang="es-ES" sz="1600" dirty="0" smtClean="0"/>
              <a:t>.</a:t>
            </a:r>
          </a:p>
          <a:p>
            <a:endParaRPr lang="es-ES" sz="1600" dirty="0"/>
          </a:p>
          <a:p>
            <a:r>
              <a:rPr lang="es-ES" sz="1600" dirty="0"/>
              <a:t>10. Módulo de interfaz y programación</a:t>
            </a:r>
          </a:p>
          <a:p>
            <a:r>
              <a:rPr lang="es-ES" sz="1600" dirty="0"/>
              <a:t>Es la parte con la que interactúa directamente el usuario. Está desarrollada con HTML5 y CSS3 para la estructura y diseño, y JavaScript para las interacciones y comunicación con el servidor. El </a:t>
            </a:r>
            <a:r>
              <a:rPr lang="es-ES" sz="1600" dirty="0" err="1"/>
              <a:t>backend</a:t>
            </a:r>
            <a:r>
              <a:rPr lang="es-ES" sz="1600" dirty="0"/>
              <a:t> utiliza PHP para procesar las solicitudes y conectarse con </a:t>
            </a:r>
            <a:r>
              <a:rPr lang="es-ES" sz="1600" dirty="0" err="1"/>
              <a:t>MySQL</a:t>
            </a:r>
            <a:r>
              <a:rPr lang="es-ES" sz="1600" dirty="0"/>
              <a:t>.</a:t>
            </a:r>
          </a:p>
          <a:p>
            <a:r>
              <a:rPr lang="es-ES" sz="1600" dirty="0"/>
              <a:t>Flujo: Usuario interactúa con la interfaz → JavaScript envía la solicitud → PHP procesa → </a:t>
            </a:r>
            <a:r>
              <a:rPr lang="es-ES" sz="1600" dirty="0" err="1"/>
              <a:t>MySQL</a:t>
            </a:r>
            <a:r>
              <a:rPr lang="es-ES" sz="1600" dirty="0"/>
              <a:t> consulta o guarda → sistema muestra el resultado.</a:t>
            </a:r>
          </a:p>
        </p:txBody>
      </p:sp>
    </p:spTree>
    <p:extLst>
      <p:ext uri="{BB962C8B-B14F-4D97-AF65-F5344CB8AC3E}">
        <p14:creationId xmlns:p14="http://schemas.microsoft.com/office/powerpoint/2010/main" val="314509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9">
          <a:extLst>
            <a:ext uri="{FF2B5EF4-FFF2-40B4-BE49-F238E27FC236}">
              <a16:creationId xmlns:a16="http://schemas.microsoft.com/office/drawing/2014/main" id="{F49B4B68-6AED-EA88-DD46-3EB19650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6">
            <a:extLst>
              <a:ext uri="{FF2B5EF4-FFF2-40B4-BE49-F238E27FC236}">
                <a16:creationId xmlns:a16="http://schemas.microsoft.com/office/drawing/2014/main" id="{EE36C957-717B-B3C9-AD9E-8220D23A3C09}"/>
              </a:ext>
            </a:extLst>
          </p:cNvPr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 por módulo</a:t>
            </a:r>
            <a:endParaRPr/>
          </a:p>
        </p:txBody>
      </p:sp>
      <p:sp>
        <p:nvSpPr>
          <p:cNvPr id="321" name="Google Shape;321;p106">
            <a:extLst>
              <a:ext uri="{FF2B5EF4-FFF2-40B4-BE49-F238E27FC236}">
                <a16:creationId xmlns:a16="http://schemas.microsoft.com/office/drawing/2014/main" id="{7F614EA0-D485-D425-0DB7-8F00CA1D6D05}"/>
              </a:ext>
            </a:extLst>
          </p:cNvPr>
          <p:cNvSpPr/>
          <p:nvPr/>
        </p:nvSpPr>
        <p:spPr>
          <a:xfrm>
            <a:off x="744675" y="1246909"/>
            <a:ext cx="8586734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1600" dirty="0"/>
              <a:t>El proyecto Balance Agropecuario busca digitalizar la gestión de la producción agropecuaria mediante una aplicación web y móvil que permita administrar usuarios, animales, peso, alimentación, medicamentos, historiales y reportes. Su objetivo es organizar la información, reducir errores y facilitar el seguimiento de los animales</a:t>
            </a:r>
            <a:r>
              <a:rPr lang="es-ES" sz="1600" dirty="0" smtClean="0"/>
              <a:t>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933" y="2332601"/>
            <a:ext cx="8712199" cy="439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997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7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Reglas del negocio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 dirty="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230284" y="1662546"/>
            <a:ext cx="92659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Las reglas de negocio del proyecto Balance Agropecuario establecen las condiciones, validaciones y restricciones que debe cumplir la plataforma para garantizar su correcto funcionamiento. Estas reglas controlan el registro y acceso de los usuarios, la seguridad de las contraseñas y la asignación de roles. También establecen cómo se debe gestionar la información de los animales, incluyendo su identificación, peso, alimentación y medicamentos. Además, determinan la consulta de historiales, la generación de reportes y la administración de los datos, buscando mantener la información organizada, segura, íntegra y disponible para apoyar la gestión de la producción agropecuaria.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8"/>
          <p:cNvSpPr txBox="1"/>
          <p:nvPr/>
        </p:nvSpPr>
        <p:spPr>
          <a:xfrm>
            <a:off x="289982" y="67025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Demostración de las reglas del negocio</a:t>
            </a:r>
            <a:endParaRPr sz="4400" b="0" i="0" u="none" strike="noStrike" cap="none" dirty="0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36" name="Google Shape;336;p108"/>
          <p:cNvSpPr/>
          <p:nvPr/>
        </p:nvSpPr>
        <p:spPr>
          <a:xfrm>
            <a:off x="744675" y="1536174"/>
            <a:ext cx="97622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r>
              <a:rPr lang="es-ES" dirty="0"/>
              <a:t> </a:t>
            </a:r>
            <a:endParaRPr lang="es-CO" dirty="0"/>
          </a:p>
          <a:p>
            <a:r>
              <a:rPr lang="es-CO" dirty="0"/>
              <a:t> </a:t>
            </a: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82" y="2086494"/>
            <a:ext cx="5179793" cy="3412925"/>
          </a:xfrm>
          <a:prstGeom prst="rect">
            <a:avLst/>
          </a:prstGeom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362" y="2363959"/>
            <a:ext cx="5275136" cy="3210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8"/>
          <p:cNvSpPr txBox="1"/>
          <p:nvPr/>
        </p:nvSpPr>
        <p:spPr>
          <a:xfrm>
            <a:off x="289982" y="67025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Demostración de las reglas del negocio</a:t>
            </a:r>
            <a:endParaRPr sz="4400" b="0" i="0" u="none" strike="noStrike" cap="none" dirty="0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36" name="Google Shape;336;p108"/>
          <p:cNvSpPr/>
          <p:nvPr/>
        </p:nvSpPr>
        <p:spPr>
          <a:xfrm>
            <a:off x="744675" y="1536174"/>
            <a:ext cx="97622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r>
              <a:rPr lang="es-ES" dirty="0"/>
              <a:t> </a:t>
            </a:r>
            <a:endParaRPr lang="es-CO" dirty="0"/>
          </a:p>
          <a:p>
            <a:r>
              <a:rPr lang="es-CO" dirty="0"/>
              <a:t> 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614" y="1666016"/>
            <a:ext cx="7710603" cy="437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7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">
          <a:extLst>
            <a:ext uri="{FF2B5EF4-FFF2-40B4-BE49-F238E27FC236}">
              <a16:creationId xmlns:a16="http://schemas.microsoft.com/office/drawing/2014/main" id="{40E8F8CC-1FA6-29C7-914F-0C1ACF714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8">
            <a:extLst>
              <a:ext uri="{FF2B5EF4-FFF2-40B4-BE49-F238E27FC236}">
                <a16:creationId xmlns:a16="http://schemas.microsoft.com/office/drawing/2014/main" id="{130681A6-A2FD-1B8A-F683-7847DDD2A077}"/>
              </a:ext>
            </a:extLst>
          </p:cNvPr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Demostración de las reglas del negocio</a:t>
            </a:r>
            <a:endParaRPr sz="4400" b="0" i="0" u="none" strike="noStrike" cap="none" dirty="0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36" name="Google Shape;336;p108">
            <a:extLst>
              <a:ext uri="{FF2B5EF4-FFF2-40B4-BE49-F238E27FC236}">
                <a16:creationId xmlns:a16="http://schemas.microsoft.com/office/drawing/2014/main" id="{A43A20E3-980B-C74D-CD30-E1545EDAA182}"/>
              </a:ext>
            </a:extLst>
          </p:cNvPr>
          <p:cNvSpPr/>
          <p:nvPr/>
        </p:nvSpPr>
        <p:spPr>
          <a:xfrm>
            <a:off x="744675" y="1536174"/>
            <a:ext cx="9762299" cy="44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r>
              <a:rPr lang="es-ES" dirty="0"/>
              <a:t> </a:t>
            </a:r>
            <a:endParaRPr lang="es-CO" dirty="0"/>
          </a:p>
          <a:p>
            <a:r>
              <a:rPr lang="es-ES" dirty="0"/>
              <a:t>Gestión de usuarios:</a:t>
            </a:r>
          </a:p>
          <a:p>
            <a:r>
              <a:rPr lang="es-ES" dirty="0"/>
              <a:t>Todo usuario debe registrarse para poder acceder a las funciones de la plataforma.</a:t>
            </a:r>
          </a:p>
          <a:p>
            <a:r>
              <a:rPr lang="es-ES" dirty="0"/>
              <a:t>Cada usuario registrado debe tener un rol asignado, como usuario o administrador.</a:t>
            </a:r>
          </a:p>
          <a:p>
            <a:r>
              <a:rPr lang="es-ES" dirty="0"/>
              <a:t>Los usuarios pueden consultar y gestionar la información relacionada con sus animales.</a:t>
            </a:r>
          </a:p>
          <a:p>
            <a:r>
              <a:rPr lang="es-ES" dirty="0"/>
              <a:t>Los administradores pueden gestionar la información de los usuarios y mantener la integridad y trazabilidad de los datos del sistema. </a:t>
            </a:r>
            <a:endParaRPr lang="es-ES" dirty="0" smtClean="0"/>
          </a:p>
          <a:p>
            <a:endParaRPr lang="es-ES" dirty="0"/>
          </a:p>
          <a:p>
            <a:r>
              <a:rPr lang="es-ES" dirty="0"/>
              <a:t>Gestión de animales:</a:t>
            </a:r>
          </a:p>
          <a:p>
            <a:r>
              <a:rPr lang="es-ES" dirty="0"/>
              <a:t>Todo animal registrado debe tener un identificador único que permita diferenciarlo dentro del sistema.</a:t>
            </a:r>
          </a:p>
          <a:p>
            <a:r>
              <a:rPr lang="es-ES" dirty="0"/>
              <a:t>Cada animal debe contar con información básica como especie, edad y raza.</a:t>
            </a:r>
          </a:p>
          <a:p>
            <a:r>
              <a:rPr lang="es-ES" dirty="0"/>
              <a:t>El registro de cada animal es obligatorio para poder asociar posteriormente información de peso, alimentación y medicamentos.</a:t>
            </a:r>
          </a:p>
          <a:p>
            <a:r>
              <a:rPr lang="es-ES" dirty="0"/>
              <a:t>La información de los animales debe mantenerse organizada y disponible para su consulta. </a:t>
            </a:r>
            <a:endParaRPr lang="es-ES" dirty="0" smtClean="0"/>
          </a:p>
          <a:p>
            <a:endParaRPr lang="es-ES" dirty="0"/>
          </a:p>
          <a:p>
            <a:r>
              <a:rPr lang="es-ES" dirty="0"/>
              <a:t>Gestión de peso:</a:t>
            </a:r>
          </a:p>
          <a:p>
            <a:r>
              <a:rPr lang="es-ES" dirty="0"/>
              <a:t>Todo registro de peso debe estar asociado a un animal registrado.</a:t>
            </a:r>
          </a:p>
          <a:p>
            <a:r>
              <a:rPr lang="es-ES" dirty="0"/>
              <a:t>Cada registro debe incluir el peso en kilogramos y la fecha en que fue realizado.</a:t>
            </a:r>
          </a:p>
          <a:p>
            <a:r>
              <a:rPr lang="es-ES" dirty="0"/>
              <a:t>El sistema debe permitir mantener los registros de peso para realizar un seguimiento de la evolución del animal. </a:t>
            </a:r>
          </a:p>
        </p:txBody>
      </p:sp>
    </p:spTree>
    <p:extLst>
      <p:ext uri="{BB962C8B-B14F-4D97-AF65-F5344CB8AC3E}">
        <p14:creationId xmlns:p14="http://schemas.microsoft.com/office/powerpoint/2010/main" val="2286404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8"/>
          <p:cNvSpPr txBox="1"/>
          <p:nvPr/>
        </p:nvSpPr>
        <p:spPr>
          <a:xfrm>
            <a:off x="306607" y="249905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 dirty="0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Demostración de las reglas del negocio</a:t>
            </a:r>
            <a:endParaRPr sz="4400" b="0" i="0" u="none" strike="noStrike" cap="none" dirty="0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36" name="Google Shape;336;p108"/>
          <p:cNvSpPr/>
          <p:nvPr/>
        </p:nvSpPr>
        <p:spPr>
          <a:xfrm>
            <a:off x="744675" y="1536174"/>
            <a:ext cx="9762299" cy="40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r>
              <a:rPr lang="es-ES" dirty="0"/>
              <a:t> </a:t>
            </a:r>
            <a:endParaRPr lang="es-CO" dirty="0"/>
          </a:p>
          <a:p>
            <a:r>
              <a:rPr lang="es-CO" dirty="0"/>
              <a:t> </a:t>
            </a:r>
          </a:p>
          <a:p>
            <a:r>
              <a:rPr lang="es-ES" dirty="0"/>
              <a:t>Gestión de alimentación:</a:t>
            </a:r>
          </a:p>
          <a:p>
            <a:r>
              <a:rPr lang="es-ES" dirty="0"/>
              <a:t>Todo registro de alimentación debe estar asociado a un animal.</a:t>
            </a:r>
          </a:p>
          <a:p>
            <a:r>
              <a:rPr lang="es-ES" dirty="0"/>
              <a:t>La información debe incluir el tipo de alimento, cantidad, unidad y fecha.</a:t>
            </a:r>
          </a:p>
          <a:p>
            <a:r>
              <a:rPr lang="es-ES" dirty="0"/>
              <a:t>Los registros de alimentación deben mantenerse organizados para facilitar el control de la producción agropecuaria. </a:t>
            </a:r>
            <a:endParaRPr lang="es-ES" dirty="0" smtClean="0"/>
          </a:p>
          <a:p>
            <a:endParaRPr lang="es-ES" dirty="0"/>
          </a:p>
          <a:p>
            <a:r>
              <a:rPr lang="es-ES" dirty="0"/>
              <a:t>Gestión de medicamentos:</a:t>
            </a:r>
          </a:p>
          <a:p>
            <a:r>
              <a:rPr lang="es-ES" dirty="0"/>
              <a:t>Todo medicamento administrado debe estar relacionado con un animal registrado.</a:t>
            </a:r>
          </a:p>
          <a:p>
            <a:r>
              <a:rPr lang="es-ES" dirty="0"/>
              <a:t>Cada registro debe incluir el nombre del medicamento, la dosis y la fecha de aplicación.</a:t>
            </a:r>
          </a:p>
          <a:p>
            <a:r>
              <a:rPr lang="es-ES" dirty="0"/>
              <a:t>La información de los medicamentos debe conservarse para permitir el seguimiento de los tratamientos realizados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 </a:t>
            </a:r>
            <a:endParaRPr lang="es-ES" dirty="0"/>
          </a:p>
          <a:p>
            <a:r>
              <a:rPr lang="es-ES" dirty="0"/>
              <a:t>Historial y trazabilidad:</a:t>
            </a:r>
          </a:p>
          <a:p>
            <a:r>
              <a:rPr lang="es-ES" dirty="0"/>
              <a:t>El sistema debe permitir consultar el historial de cada animal.</a:t>
            </a:r>
          </a:p>
          <a:p>
            <a:r>
              <a:rPr lang="es-ES" dirty="0"/>
              <a:t>El historial debe incluir información relacionada con peso, alimentación y medicamentos.</a:t>
            </a:r>
          </a:p>
          <a:p>
            <a:r>
              <a:rPr lang="es-ES" dirty="0"/>
              <a:t>La información registrada debe mantenerse organizada para facilitar el seguimiento y la trazabilidad de cada animal.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21124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8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Demostración de las reglas del negocio</a:t>
            </a:r>
            <a:endParaRPr sz="4400" b="0" i="0" u="none" strike="noStrike" cap="non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36" name="Google Shape;336;p108"/>
          <p:cNvSpPr/>
          <p:nvPr/>
        </p:nvSpPr>
        <p:spPr>
          <a:xfrm>
            <a:off x="744675" y="1536174"/>
            <a:ext cx="9762299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r>
              <a:rPr lang="es-ES" dirty="0"/>
              <a:t> </a:t>
            </a:r>
            <a:endParaRPr lang="es-CO" dirty="0"/>
          </a:p>
          <a:p>
            <a:r>
              <a:rPr lang="es-CO" dirty="0"/>
              <a:t> </a:t>
            </a:r>
          </a:p>
          <a:p>
            <a:r>
              <a:rPr lang="es-ES" dirty="0"/>
              <a:t>Reportes:</a:t>
            </a:r>
          </a:p>
          <a:p>
            <a:r>
              <a:rPr lang="es-ES" dirty="0"/>
              <a:t>El sistema debe permitir generar reportes utilizando la información registrada de los animales durante un periodo determinado.</a:t>
            </a:r>
          </a:p>
          <a:p>
            <a:r>
              <a:rPr lang="es-ES" dirty="0"/>
              <a:t>Los reportes deben facilitar el análisis de la información y apoyar la toma de decisiones relacionadas con la producción agropecuaria. </a:t>
            </a:r>
            <a:endParaRPr lang="es-ES" dirty="0" smtClean="0"/>
          </a:p>
          <a:p>
            <a:endParaRPr lang="es-ES" dirty="0"/>
          </a:p>
          <a:p>
            <a:r>
              <a:rPr lang="es-ES" dirty="0"/>
              <a:t>Seguridad y accesos:</a:t>
            </a:r>
          </a:p>
          <a:p>
            <a:r>
              <a:rPr lang="es-ES" dirty="0"/>
              <a:t>Las contraseñas de los usuarios deben cumplir con los requisitos mínimos de seguridad y almacenarse de forma segura.</a:t>
            </a:r>
          </a:p>
          <a:p>
            <a:r>
              <a:rPr lang="es-ES" dirty="0"/>
              <a:t>Cada usuario debe tener un rol que determine sus permisos dentro del sistema.</a:t>
            </a:r>
          </a:p>
          <a:p>
            <a:r>
              <a:rPr lang="es-ES" dirty="0"/>
              <a:t>Después de varios intentos fallidos de inicio de sesión, la cuenta podrá ser bloqueada temporalmente como medida de seguridad</a:t>
            </a:r>
            <a:r>
              <a:rPr lang="es-ES" dirty="0" smtClean="0"/>
              <a:t>.</a:t>
            </a:r>
            <a:endParaRPr lang="es-ES" dirty="0"/>
          </a:p>
          <a:p>
            <a:r>
              <a:rPr lang="es-ES" dirty="0"/>
              <a:t>Los usuarios sin los permisos correspondientes no deben acceder a funciones administrativas. </a:t>
            </a:r>
            <a:endParaRPr lang="es-ES" dirty="0" smtClean="0"/>
          </a:p>
          <a:p>
            <a:endParaRPr lang="es-ES" dirty="0"/>
          </a:p>
          <a:p>
            <a:r>
              <a:rPr lang="es-ES" dirty="0"/>
              <a:t>Administración del sistema:</a:t>
            </a:r>
          </a:p>
          <a:p>
            <a:r>
              <a:rPr lang="es-ES" dirty="0"/>
              <a:t>Los administradores pueden gestionar y modificar la información del sistema.</a:t>
            </a:r>
          </a:p>
          <a:p>
            <a:r>
              <a:rPr lang="es-ES" dirty="0"/>
              <a:t>La administración debe garantizar la integridad y trazabilidad de los datos registrados.</a:t>
            </a:r>
          </a:p>
          <a:p>
            <a:r>
              <a:rPr lang="es-ES" dirty="0"/>
              <a:t>Los cambios realizados sobre la información deben mantenerse bajo las reglas y permisos establecidos para la administración del sistema. </a:t>
            </a:r>
          </a:p>
        </p:txBody>
      </p:sp>
    </p:spTree>
    <p:extLst>
      <p:ext uri="{BB962C8B-B14F-4D97-AF65-F5344CB8AC3E}">
        <p14:creationId xmlns:p14="http://schemas.microsoft.com/office/powerpoint/2010/main" val="3735812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g2155d56c852_0_468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9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Tiempo: Máximo 5 min.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2095</Words>
  <Application>Microsoft Office PowerPoint</Application>
  <PresentationFormat>Panorámica</PresentationFormat>
  <Paragraphs>279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26</vt:i4>
      </vt:variant>
    </vt:vector>
  </HeadingPairs>
  <TitlesOfParts>
    <vt:vector size="35" baseType="lpstr">
      <vt:lpstr>Work Sans</vt:lpstr>
      <vt:lpstr>Calibri</vt:lpstr>
      <vt:lpstr>Work Sans Light</vt:lpstr>
      <vt:lpstr>Work Sans Medium</vt:lpstr>
      <vt:lpstr>Arial</vt:lpstr>
      <vt:lpstr>Times New Roman</vt:lpstr>
      <vt:lpstr>Tema de Office</vt:lpstr>
      <vt:lpstr>1_Tema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ESTUDIANTE</cp:lastModifiedBy>
  <cp:revision>36</cp:revision>
  <dcterms:created xsi:type="dcterms:W3CDTF">2020-10-01T23:51:28Z</dcterms:created>
  <dcterms:modified xsi:type="dcterms:W3CDTF">2026-09-25T19:37:32Z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